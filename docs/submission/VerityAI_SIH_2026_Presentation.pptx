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evaluators, welcome to our presentation on VerityAI / EntityLocker. Built for Smart India Hackathon 2026 under the Smart Automation track, VerityAI is a production-tested decision-support prototype built to automate and secure institutional application scrutiny for AICTE while preserving human reviewer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AICTE oversees over 10,000 technical institutes. Annually, scrutiny officers review 20 to 50 complex documents per dossier within a short 6-8 week window. The scale creates severe administrative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Manual review suffers from five core vulnerabilities: subjective inconsistency, cross-document blindspots, untraceable evidence, regional language barriers like Devanagari numbers, and poor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VerityAI rests on 5 pillars: a secure document locker, dual-engine OCR, deterministic statutory rules, AI-assisted cross-document anomaly detection, and strict human-in-the-loop decision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end-to-end operational pipeline progresses cleanly through 8 stages: intake, secure upload, extraction, candidate normalization, deterministic validation, anomaly detection, registry checks, and final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uses production-grade open-source tools: React 19 frontend, FastAPI backend, SQLAlchemy ORM, and local PyMuPDF/RapidOCR extraction. Zero reliance on paid cloud AI APIs; 100% self-hosted.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multilingual pipeline solves Indian regulatory realities: normalizing Devanagari numerals to standard digits, classifying script distribution, and translating statutory terms offline using a 19-term regulatory glossary.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Explainability is non-negotiable: every finding links to document, page number, and raw snippet. Our 4 status families cleanly separate confirmed passes and failures from items requiring human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includes Argon2id hashing, HttpOnly cookies, CSRF defenses, and socket-level SSRF filters blocking private CIDRs and cloud metadata endpoints. All actions are logged to an append-only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working prototype is pre-seeded with realistic scenarios: Scenario A shows a compliant institution, Scenario B demonstrates bilingual anomaly detection on Devanagari numerals, and Scenarios C and D showcase PDF reporting and version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VerityAI differentiates across 6 critical regulatory dimensions: deterministic statutory logic, itemized evidence tracing, offline Devanagari translation, honest registry adapters, human decision authority, and zero recurring cloud API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project reducing preliminary review time from 45 minutes to 5 minutes. We propose a 6-month pilot measuring review time reduction, finding precision and recall, reviewer agreement rate, and a false-positive ceiling below 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VerityAI is engineered for immediate feasibility. The multi-stage containerized stack runs on standard 2 vCPU, 4GB RAM hardware without GPU requirements, making it ideal for MeghRaj NIC cloud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claim is backed by real execution: 121 backend unit/integration tests passing, 0 build errors across 1950 modules, 12/12 end-to-end workflows verified, and 10/10 pre-flight readiness checks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roadmap charts a realistic path from state pilots to national AICTE integration. VerityAI delivers faster approvals, zero missed deficiencies, and complete transparency. Thank you, and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450D8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63040" y="1280160"/>
            <a:ext cx="4572000" cy="36576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633B8"/>
                </a:solidFill>
                <a:latin typeface="Segoe UI"/>
              </a:defRPr>
            </a:pPr>
            <a:r>
              <a:t>SMART INDIA HACKATHON 2026 · PROBLEM STATEMENT SIH26261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71B45"/>
                </a:solidFill>
                <a:latin typeface="Segoe UI"/>
              </a:defRPr>
            </a:pPr>
            <a:r>
              <a:t>VerityAI / EntityLocker</a:t>
            </a:r>
          </a:p>
          <a:p>
            <a:pPr>
              <a:defRPr sz="1800" b="1">
                <a:solidFill>
                  <a:srgbClr val="7450D8"/>
                </a:solidFill>
                <a:latin typeface="Segoe UI"/>
              </a:defRPr>
            </a:pPr>
            <a:r>
              <a:t>AI-Assisted Institutional Application Scrutiny &amp; Secure Document Locker</a:t>
            </a:r>
          </a:p>
          <a:p>
            <a:pPr>
              <a:defRPr sz="1200">
                <a:solidFill>
                  <a:srgbClr val="5F6485"/>
                </a:solidFill>
                <a:latin typeface="Segoe UI"/>
              </a:defRPr>
            </a:pPr>
            <a:r>
              <a:t>A decision-support ecosystem for AICTE combining multilingual document OCR, deterministic compliance validation, cross-document anomaly detection, and verifiable audit trails.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114800"/>
            <a:ext cx="9265615" cy="1371600"/>
          </a:xfrm>
          <a:prstGeom prst="roundRect">
            <a:avLst/>
          </a:prstGeom>
          <a:solidFill>
            <a:srgbClr val="FAF9FC"/>
          </a:solidFill>
          <a:ln>
            <a:solidFill>
              <a:srgbClr val="E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71B45"/>
                </a:solidFill>
              </a:defRPr>
            </a:pPr>
            <a:r>
              <a:t>ORGANIZATION: All India Council for Technical Education (AICTE), Ministry of Education</a:t>
            </a:r>
          </a:p>
          <a:p>
            <a:pPr>
              <a:defRPr b="1" sz="1100">
                <a:solidFill>
                  <a:srgbClr val="E34234"/>
                </a:solidFill>
              </a:defRPr>
            </a:pPr>
            <a:r>
              <a:t>TEAM ID / NAME: [TEAM_ID_PLACEHOLDER] · [INSTITUTION_NAME_PLACEHOLDER]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TECHNOLOGY STACK: Python 3.12 (FastAPI) · React 19 (TypeScript) · PyMuPDF &amp; RapidOCR ·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The Regulatory Challenge: High-Volume Technical Scrutiny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10,000+ Institutions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AICTE regulates over ten thousand technical institutes, engineering colleges, polytechnics, and management schools across India every academic year.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20–50 Documents /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Each Extension of Approval (EoA) dossier comprises dozens of statutory certificates: land records, fire safety, building approvals, and faculty rolls.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Multi-State Jurisdiction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Dossiers contain documents from state revenue departments, municipal corporations, affiliating universities, and central bodies.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Narrow 6–8 Week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Scrutiny officers must evaluate tens of thousands of pages within tight statutory timelines, risking fatigue and inconsistent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Existing Operational Pain Points in Manual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1. Inconsistent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Different scrutiny desks apply varying stringency levels to clerical variations, creating regulatory disparities across regional committees.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5544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9163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2. Cross-Document Blindspots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945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Inconsistencies between separate PDFs—such as declared student intake vs capacity specified in old land approvals—go unnoticed.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8704" y="15544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69163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3. Zero Evidence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1945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Observations are logged as subjective free text without direct hyperlinks to source documents, page numbers, or raw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402336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41605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4. Regional Language Barriers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66344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Land and revenue certificates issued in Hindi with Devanagari numerals require time-consuming manual transcription.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402336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1605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5. Audit &amp; Versioning Deficits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66344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Absence of append-only audit histories makes tracking dossier amendments and past reviewer determinations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The VerityAI Solution: 5 Foundational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Secure Entity Locker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Tamper-evident institutional document storage with SHA-256 hashing, magic-byte checks, and versioned dossier snapshots.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7830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Dual-Engine OCR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37744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Sub-15ms vector PDF extraction via PyMuPDF with RapidOCR fallback for scanned forms and Devanagari numerals.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7830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Deterministic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37744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100% predictable compliance validation: required documents, mandatory fields, date validity, and capacity ceilings.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215" y="17830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AI Anomaly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37744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Cross-document discrepancy detection with confidence scoring, evidence citations, and candidate field discovery.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7830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37744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Consequential decisions remain exclusively with human officials. VerityAI provides traceable decision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End-to-End Scrutiny Workflow: From Intake to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1. Intake &amp; Declaration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Institution creates dossier, inputs category parameters, declares student intake.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2. Secure Document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40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Uploads PDFs; system validates magic bytes (`%PDF-`), computes SHA-256 hash.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3. Dual-Engine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40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PyMuPDF parses vector text; RapidOCR processes scanned pages; digits normalized.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4. Candidate Field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240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Regex &amp; NLP extract candidate institution names, dates, intake capacities.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5. Deterministic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Rule engine tests requirements: PASS, FAIL, NEEDS_REVIEW, UNABLE_TO_EVALUATE.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6. Anomaly &amp; Cross-Doc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617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Flags cross-document intake mismatches, duplicate documents, and date anomalies.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7. Reference Registry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617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Compares records against AISHE reference registries &amp; statutory gateway stubs.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8. Human Review &amp; Dossier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617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Official inspects evidence citations, records verdict, exports multi-page PDF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System Architecture: Robust, Open-Source &amp; Containerized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Presentation Layer (React 19 &amp; TypeScript)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SPA frontend built with Vite, Tailwind CSS, Lucide icons, responsive design tokens, and role-based viewports (Admin, Reviewer, Operator).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API &amp; Orchestration Layer (FastAPI Monolith)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Modular Python 3.12 backend with Pydantic v2 validation, asynchronous endpoints, OpenAPI documentation, and lifecycle state machines.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7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Document Intelligence Engine (PyMuPDF &amp; RapidOCR)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High-performance vector PDF parsing in &lt;15ms, RapidOCR fallback, Devanagari digit conversion, and script distribution classification.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Persistence &amp; Security Layer (SQLAlchemy &amp; Argon2id)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SQLite with WAL mode and foreign key enforcement (PostgreSQL ready), Argon2id hashing, HttpOnly JWT cookies, and SSRF filter.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Interoperability Layer (Pluggable Adapters)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Synthetic AISHE reference provider, configurable external REST gateways, and honest statutory portal stubs.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Document Intelligence: Bilingual Normalization &amp; Devanagari Numerals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Devanagari Numeral Converter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Converts Hindi digits (०, १, २, ३, ४, ५, ६, ७, ८, ९) to standard numerals (0-9). Resolves critical mismatches where an intake certificate in Hindi declares '१२०' seats while the application expects '120'.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Script Distribution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Analyzes Unicode character distribution to report honest language distribution percentages (e.g. 88% English, 12% Devanagari) without hallucinating confidence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Statutory Regulatory Glossary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Local offline dictionary with 19 statutory terms (e.g. 'स्वीकृत क्षमता' -&gt; 'Approved Intake', 'विस्तार पत्र' -&gt; 'Extension of Approval') enabling immediate contextual translation without cloud APIs.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Text Quality Banding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Categorizes extraction quality into GOOD (&gt;100 chars), FAIR (50-100), POOR (&lt;50), or UNREADABLE to prevent false negative validation results on blurry scans.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Explainability: Every Finding Directly Linked to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Anatomy of an Explainable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71B45"/>
                </a:solidFill>
              </a:defRPr>
            </a:pPr>
            <a:r>
              <a:t>Statutory Rule Code: </a:t>
            </a:r>
            <a:r>
              <a:rPr b="0">
                <a:solidFill>
                  <a:srgbClr val="5F6485"/>
                </a:solidFill>
              </a:rPr>
              <a:t>ANM-XDOC-INTAKE (Cross-Document Approved Intake Consistency)</a:t>
            </a:r>
          </a:p>
          <a:p>
            <a:pPr>
              <a:defRPr b="1" sz="1000">
                <a:solidFill>
                  <a:srgbClr val="171B45"/>
                </a:solidFill>
              </a:defRPr>
            </a:pPr>
            <a:r>
              <a:t>Severity &amp; Status: </a:t>
            </a:r>
            <a:r>
              <a:rPr b="0">
                <a:solidFill>
                  <a:srgbClr val="5F6485"/>
                </a:solidFill>
              </a:rPr>
              <a:t>CRITICAL · OPEN (Flagged for Reviewer Adjudication)</a:t>
            </a:r>
          </a:p>
          <a:p>
            <a:pPr>
              <a:defRPr b="1" sz="1000">
                <a:solidFill>
                  <a:srgbClr val="171B45"/>
                </a:solidFill>
              </a:defRPr>
            </a:pPr>
            <a:r>
              <a:t>Source Evidence Document: </a:t>
            </a:r>
            <a:r>
              <a:rPr b="0">
                <a:solidFill>
                  <a:srgbClr val="5F6485"/>
                </a:solidFill>
              </a:rPr>
              <a:t>Apex_AICTE_Extension_of_Approval_2026.pdf (Page 1)</a:t>
            </a:r>
          </a:p>
          <a:p>
            <a:pPr>
              <a:defRPr b="1" sz="1000">
                <a:solidFill>
                  <a:srgbClr val="171B45"/>
                </a:solidFill>
              </a:defRPr>
            </a:pPr>
            <a:r>
              <a:t>Observed vs Expected: </a:t>
            </a:r>
            <a:r>
              <a:rPr b="0">
                <a:solidFill>
                  <a:srgbClr val="5F6485"/>
                </a:solidFill>
              </a:rPr>
              <a:t>Declared Intake: 180 seats vs Approved Certificate: 120 seats</a:t>
            </a:r>
          </a:p>
          <a:p>
            <a:pPr>
              <a:defRPr b="1" sz="1000">
                <a:solidFill>
                  <a:srgbClr val="171B45"/>
                </a:solidFill>
              </a:defRPr>
            </a:pPr>
            <a:r>
              <a:t>Raw Extracted Snippet: </a:t>
            </a:r>
            <a:r>
              <a:rPr b="0">
                <a:solidFill>
                  <a:srgbClr val="5F6485"/>
                </a:solidFill>
              </a:rPr>
              <a:t>"Approved Intake for the Academic Year 2026-27: 120 seats"</a:t>
            </a:r>
          </a:p>
          <a:p>
            <a:pPr>
              <a:defRPr b="1" sz="1000">
                <a:solidFill>
                  <a:srgbClr val="171B45"/>
                </a:solidFill>
              </a:defRPr>
            </a:pPr>
            <a:r>
              <a:t>Detection Provenance: </a:t>
            </a:r>
            <a:r>
              <a:rPr b="0">
                <a:solidFill>
                  <a:srgbClr val="5F6485"/>
                </a:solidFill>
              </a:rPr>
              <a:t>Deterministic regex candidate comparison (Confidence: 0.95)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45920"/>
            <a:ext cx="4480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Non-Negotiable Status Vocabulary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7A48"/>
                </a:solidFill>
              </a:defRPr>
            </a:pPr>
            <a:r>
              <a:t>● PASS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Requirement evaluated; evidence fully satisfied statutory norms.</a:t>
            </a:r>
          </a:p>
          <a:p>
            <a:pPr>
              <a:defRPr b="1" sz="1100">
                <a:solidFill>
                  <a:srgbClr val="E34234"/>
                </a:solidFill>
              </a:defRPr>
            </a:pPr>
            <a:r>
              <a:t>● FAIL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Requirement evaluated; observed evidence explicitly breached norms.</a:t>
            </a:r>
          </a:p>
          <a:p>
            <a:pPr>
              <a:defRPr b="1" sz="1100">
                <a:solidFill>
                  <a:srgbClr val="7450D8"/>
                </a:solidFill>
              </a:defRPr>
            </a:pPr>
            <a:r>
              <a:t>● NEEDS_REVIEW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Outcome requires human legal discretion; ambiguity highlighted.</a:t>
            </a:r>
          </a:p>
          <a:p>
            <a:pPr>
              <a:defRPr b="1" sz="1100">
                <a:solidFill>
                  <a:srgbClr val="8589A6"/>
                </a:solidFill>
              </a:defRPr>
            </a:pPr>
            <a:r>
              <a:t>● UNABLE_TO_EVALUATE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Inputs missing or unreadable; never silently converted to FAIL.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Security Governance &amp; Socket-Level SSRF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Authentication &amp;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Argon2id password hashing, HttpOnly secure cookies, and granular roles: ADMIN, REVIEWER, OPERATOR.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CSRF &amp; Upload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Strict `X-Requested-With: VerityAI` header enforcement; magic-byte validation rejecting malicious file extensions.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7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Outbound SSRF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DNS resolution filter blocking RFC-1918 private CIDRs (`10.0.0.0/8`, `172.16.0.0/12`, `192.168.0.0/16`, `127.0.0.0/8`).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Cloud Metadata Shield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Blocks AWS/GCP/Azure instance metadata endpoint (`169.254.169.254`), 10s connection timeout, 1MB streaming ceiling.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Append-Only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Non-repudiable audit ledger tracking every login, upload, validation execution, and adjudication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Working Prototype Demonstration: Pre-Seeded Pilot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Scenario A: Fully Compliant (`VAI-2026-0001`)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Apex Institute of Technology, Pune · 120 approved intake · 5.5 acre contiguous land title · Zero validation failures · Readiness: 100% READY FOR SCRUTINY.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Scenario B: Bilingual Discrepancy (`VAI-2026-0002`)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Zenith College of Engineering, Bengaluru · Declared 180 seats vs certificate declaring '१२०' (120) seats · Triggers critical `ANM-XDOC-INTAKE` anomaly for human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Scenario C: Executive Scrutiny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Official multi-page PDF report synthesized via PyMuPDF with advisory notice, statutory compliance breakdown, evidence tables, and signature block.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Scenario D: Dossier History &amp; Versioning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Version snapshot engine captures baseline v1 and version v2 upon amendments; tracks field differences and alerts reviewers if evaluations are stale.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Innovation &amp; Differentiation: Beyond Generic OCR &amp; LLMs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200400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71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Generic OCR Tools</a:t>
                      </a:r>
                    </a:p>
                  </a:txBody>
                  <a:tcPr>
                    <a:solidFill>
                      <a:srgbClr val="171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Black-Box LLM Wrappers</a:t>
                      </a:r>
                    </a:p>
                  </a:txBody>
                  <a:tcPr>
                    <a:solidFill>
                      <a:srgbClr val="171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VerityAI / EntityLocker</a:t>
                      </a:r>
                    </a:p>
                  </a:txBody>
                  <a:tcPr>
                    <a:solidFill>
                      <a:srgbClr val="7450D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Scrutiny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Dumps raw unformatted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Hallucinates compliance; opaque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633B8"/>
                          </a:solidFill>
                          <a:latin typeface="Segoe UI"/>
                        </a:defRPr>
                      </a:pPr>
                      <a:r>
                        <a:t>Deterministic rules + AI anomaly flags</a:t>
                      </a:r>
                    </a:p>
                  </a:txBody>
                  <a:tcPr>
                    <a:solidFill>
                      <a:srgbClr val="F3EE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Evidence 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No evidence linking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Generalized bulleted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633B8"/>
                          </a:solidFill>
                          <a:latin typeface="Segoe UI"/>
                        </a:defRPr>
                      </a:pPr>
                      <a:r>
                        <a:t>Clickable citations (Doc, Page, Value)</a:t>
                      </a:r>
                    </a:p>
                  </a:txBody>
                  <a:tcPr>
                    <a:solidFill>
                      <a:srgbClr val="F3EE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Multilingual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Generic English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Cloud API token consumption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633B8"/>
                          </a:solidFill>
                          <a:latin typeface="Segoe UI"/>
                        </a:defRPr>
                      </a:pPr>
                      <a:r>
                        <a:t>Local Devanagari numerals + Glossary</a:t>
                      </a:r>
                    </a:p>
                  </a:txBody>
                  <a:tcPr>
                    <a:solidFill>
                      <a:srgbClr val="F3EE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Registry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Fabricates live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633B8"/>
                          </a:solidFill>
                          <a:latin typeface="Segoe UI"/>
                        </a:defRPr>
                      </a:pPr>
                      <a:r>
                        <a:t>Pluggable AISHE adapter + Statutory stubs</a:t>
                      </a:r>
                    </a:p>
                  </a:txBody>
                  <a:tcPr>
                    <a:solidFill>
                      <a:srgbClr val="F3EE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Authority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Claims automated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633B8"/>
                          </a:solidFill>
                          <a:latin typeface="Segoe UI"/>
                        </a:defRPr>
                      </a:pPr>
                      <a:r>
                        <a:t>Strict Human-in-the-Loop decision support</a:t>
                      </a:r>
                    </a:p>
                  </a:txBody>
                  <a:tcPr>
                    <a:solidFill>
                      <a:srgbClr val="F3EE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Operational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High recurring software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71B45"/>
                          </a:solidFill>
                          <a:latin typeface="Segoe UI"/>
                        </a:defRPr>
                      </a:pPr>
                      <a:r>
                        <a:t>Expensive per-token API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633B8"/>
                          </a:solidFill>
                          <a:latin typeface="Segoe UI"/>
                        </a:defRPr>
                      </a:pPr>
                      <a:r>
                        <a:t>100% Free &amp; Open Source (Local CPU)</a:t>
                      </a:r>
                    </a:p>
                  </a:txBody>
                  <a:tcPr>
                    <a:solidFill>
                      <a:srgbClr val="F3EE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Projected Impact &amp; Proposed Pilot Evaluation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Operational Impact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71B45"/>
                </a:solidFill>
              </a:defRPr>
            </a:pPr>
            <a:r>
              <a:t>● Scrutiny Time Reduction: 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Reduces preliminary manual document inspection from ~45 minutes to under 5 minutes per dossier.</a:t>
            </a:r>
          </a:p>
          <a:p>
            <a:pPr>
              <a:defRPr b="1" sz="1100">
                <a:solidFill>
                  <a:srgbClr val="171B45"/>
                </a:solidFill>
              </a:defRPr>
            </a:pPr>
            <a:r>
              <a:t>● Elimination of Oversight: 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Automated rules ensure expired revenue dates and intake discrepancies cannot slip through unnoticed.</a:t>
            </a:r>
          </a:p>
          <a:p>
            <a:pPr>
              <a:defRPr b="1" sz="1100">
                <a:solidFill>
                  <a:srgbClr val="171B45"/>
                </a:solidFill>
              </a:defRPr>
            </a:pPr>
            <a:r>
              <a:t>● Standardized Scrutiny: 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Harmonizes evaluation standards across regional committees with transparent evidence dossiers.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Proposed 6-Month Pilot Evaluation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5633B8"/>
                </a:solidFill>
              </a:defRPr>
            </a:pPr>
            <a:r>
              <a:t>1. Average Review Time: 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Compare baseline manual scrutiny time against VerityAI-assisted evaluation across 1,000 pilot dossiers.</a:t>
            </a:r>
          </a:p>
          <a:p>
            <a:pPr>
              <a:defRPr b="1" sz="1100">
                <a:solidFill>
                  <a:srgbClr val="5633B8"/>
                </a:solidFill>
              </a:defRPr>
            </a:pPr>
            <a:r>
              <a:t>1. Finding Precision &amp; Recall: 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Measure true compliance discrepancies flagged against senior scrutiny committee audit.</a:t>
            </a:r>
          </a:p>
          <a:p>
            <a:pPr>
              <a:defRPr b="1" sz="1100">
                <a:solidFill>
                  <a:srgbClr val="5633B8"/>
                </a:solidFill>
              </a:defRPr>
            </a:pPr>
            <a:r>
              <a:t>1. Reviewer Agreement Rate: 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Track percentage of AI-assisted findings corroborated by regulatory officials (target &gt;92%).</a:t>
            </a:r>
          </a:p>
          <a:p>
            <a:pPr>
              <a:defRPr b="1" sz="1100">
                <a:solidFill>
                  <a:srgbClr val="5633B8"/>
                </a:solidFill>
              </a:defRPr>
            </a:pPr>
            <a:r>
              <a:t>1. False-Positive Ceiling: </a:t>
            </a:r>
          </a:p>
          <a:p>
            <a:pPr>
              <a:defRPr sz="1000">
                <a:solidFill>
                  <a:srgbClr val="5F6485"/>
                </a:solidFill>
              </a:defRPr>
            </a:pPr>
            <a:r>
              <a:t>Maintain false-positive anomaly indicator rate strictly below 5% across pilot batches.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Feasibility &amp; Scalability: Minimal Footprint, Cloud-Ready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Containerized Micro-Footprint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Packaged with multi-stage Dockerfiles and `docker-compose.yml`. Runs on 2 vCPUs and 4GB RAM without GPU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Local Offline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PyMuPDF and RapidOCR run entirely in-process on CPU, eliminating external network dependencies and cloud egress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MeghRaj &amp; NIC Cloud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Architected to run on National Informatics Centre (NIC) MeghRaj government cloud infrastructure with persistent volume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Statutory API Integration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485"/>
                </a:solidFill>
                <a:latin typeface="Segoe UI"/>
              </a:defRPr>
            </a:pPr>
            <a:r>
              <a:t>Modular adapter pattern connects directly to AICTE production web services as soon as official credentials are provisioned.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Implementation Status: 100% Tested &amp;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7A48"/>
                </a:solidFill>
                <a:latin typeface="Segoe UI"/>
              </a:defRPr>
            </a:pPr>
            <a:r>
              <a:t>121 Passed</a:t>
            </a:r>
          </a:p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Backend Test Suite</a:t>
            </a:r>
          </a:p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121 automated tests passing across 16 test modules with 0 failures in 16.12s (`pytest`).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7A48"/>
                </a:solidFill>
                <a:latin typeface="Segoe UI"/>
              </a:defRPr>
            </a:pPr>
            <a:r>
              <a:t>0 Errors</a:t>
            </a:r>
          </a:p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Frontend Production Build</a:t>
            </a:r>
          </a:p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1950 modules transformed cleanly in 201ms (`vite build`) with strict TypeScript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92024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7A48"/>
                </a:solidFill>
                <a:latin typeface="Segoe UI"/>
              </a:defRPr>
            </a:pPr>
            <a:r>
              <a:t>12/12 Verified</a:t>
            </a:r>
          </a:p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End-to-End Operational Workflows</a:t>
            </a:r>
          </a:p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Comprehensive `verify_e2e.py` script validates all 12 platform capabilities with 100% health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92024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7A48"/>
                </a:solidFill>
                <a:latin typeface="Segoe UI"/>
              </a:defRPr>
            </a:pPr>
            <a:r>
              <a:t>10/10 Passed</a:t>
            </a:r>
          </a:p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Pre-Flight Demonstration Audit</a:t>
            </a:r>
          </a:p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`readiness.py` pre-flight auditor validates database, storage, seeding, and security controls.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>
            <a:solidFill>
              <a:srgbClr val="FA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3EEFC"/>
          </a:solidFill>
          <a:ln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450D8"/>
                </a:solidFill>
                <a:latin typeface="Segoe UI"/>
              </a:defRPr>
            </a:pPr>
            <a:r>
              <a:t>SMART INDIA HACKATHON 2026 ·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1B45"/>
                </a:solidFill>
                <a:latin typeface="Segoe UI"/>
              </a:defRPr>
            </a:pPr>
            <a:r>
              <a:t>Strategic Roadmap: The Path to Statutory Excellence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Phase 1: Pilot Deployment (Q1 2027)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Pilot trials with State Directorates of Technical Education; fine-tune regex on regional certificate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Phase 2: Official AICTE Integration (Q2 2027)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Establish secure TLS-mutual gateway connections with live AICTE portal and national AISHE databases.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7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Phase 3: Mobile Officer Uplink (Q3 2027)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Mobile application allowing institutions to upload stamped certificates with GPS geotagging &amp; biometric audit.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B45"/>
                </a:solidFill>
                <a:latin typeface="Segoe UI"/>
              </a:defRPr>
            </a:pPr>
            <a:r>
              <a:t>Phase 4: Predictive Compliance (Q4 2027)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485"/>
                </a:solidFill>
                <a:latin typeface="Segoe UI"/>
              </a:defRPr>
            </a:pPr>
            <a:r>
              <a:t>Multi-year compliance forecasting, tracking institutional improvements and automated renewal queues.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5633B8"/>
          </a:solidFill>
          <a:ln>
            <a:solidFill>
              <a:srgbClr val="563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VerityAI / EntityLocker: Transparent, Evidence-Linked Decision Support for Technical Education.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